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aca235c5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aca235c5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ca235c5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aca235c5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5e333f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5e333f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acdcd4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acdcd4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aca235c5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aca235c5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5e333f7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65e333f7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e333f7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5e333f7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65e333f7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65e333f7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65e333f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65e333f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5e333f7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65e333f7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65e333f7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65e333f7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5e333f7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5e333f7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65e333f7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65e333f7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d6ed72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ad6ed72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d6ed72f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ad6ed72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65e333f7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65e333f7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65e333f7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65e333f7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65e333f7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65e333f7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65e333f7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65e333f7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5e333f7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65e333f7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ad6ed72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ad6ed72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ae1b46a2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ae1b46a2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ad6ed72f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ad6ed72f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Evolution in Audio Deepfake Detection</a:t>
            </a:r>
            <a:endParaRPr sz="3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98100" y="2839025"/>
            <a:ext cx="8222100" cy="20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Arth J. Shah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(202521004)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evaluation presentation of </a:t>
            </a:r>
            <a:r>
              <a:rPr b="1" lang="en"/>
              <a:t>Advance Machine Learning (AML)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</a:t>
            </a:r>
            <a:r>
              <a:rPr lang="en"/>
              <a:t>Supervision</a:t>
            </a:r>
            <a:r>
              <a:rPr lang="en"/>
              <a:t> of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Prof. (Dr.) Rachit Chhaya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27th April, 2026</a:t>
            </a:r>
            <a:endParaRPr/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r>
              <a:rPr lang="en"/>
              <a:t>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8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Introduction to Audio Deepfake Deepfake (ADD) and literature survey.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Introduction to RawNet2 -&gt; AASIST -&gt; AASIST3 -&gt; Rawformer.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Experimental setup &amp; Results.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Summary and conclusion.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Open research </a:t>
            </a:r>
            <a:r>
              <a:rPr lang="en" sz="2200"/>
              <a:t>problems</a:t>
            </a:r>
            <a:r>
              <a:rPr lang="en" sz="2200"/>
              <a:t>.</a:t>
            </a:r>
            <a:endParaRPr sz="2200"/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Deepfake?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19557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Any AI generated content,  produced via deep learning method can be called as deepfake.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Deepfakes are generally created to fool humans rather </a:t>
            </a:r>
            <a:r>
              <a:rPr lang="en" sz="2200"/>
              <a:t>than</a:t>
            </a:r>
            <a:r>
              <a:rPr lang="en" sz="2200"/>
              <a:t> spoofing systems.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Applications:</a:t>
            </a:r>
            <a:br>
              <a:rPr lang="en" sz="2200"/>
            </a:br>
            <a:r>
              <a:rPr lang="en" sz="2200"/>
              <a:t>- </a:t>
            </a:r>
            <a:r>
              <a:rPr lang="en" sz="2200"/>
              <a:t>Social media platforms</a:t>
            </a:r>
            <a:br>
              <a:rPr lang="en" sz="2200"/>
            </a:br>
            <a:r>
              <a:rPr lang="en" sz="2200"/>
              <a:t>- Voice-controlled assistants</a:t>
            </a:r>
            <a:br>
              <a:rPr lang="en" sz="2200"/>
            </a:br>
            <a:r>
              <a:rPr lang="en" sz="2200"/>
              <a:t>- Biometric authentication systems</a:t>
            </a:r>
            <a:endParaRPr sz="2200"/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7650" y="558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RawNet2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6" title="Screenshot 2026-04-27 at 1.13.2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675" y="677438"/>
            <a:ext cx="4333650" cy="37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Tak, H., Patino, J., Todisco, M., Nautsch, A., Evans, N., &amp; Larcher, A. (2021, June). End-to-end anti-spoofing with rawnet2.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ICASSP 2021-2021 IEEE International Conference on Acoustics, Speech and Signal Processing (ICASSP)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6369-6373).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RawNet2 Sub-Modules Overview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7650" y="1928400"/>
            <a:ext cx="76887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SincConv Frontend → Raw waveform → learnable band-pass filters (mel-init)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Initial Processing → |x| + pooling + BN + SELU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Residual CNN Stack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Channel Attention &amp; GRU layer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FC Head → Final classification</a:t>
            </a:r>
            <a:endParaRPr sz="2200">
              <a:solidFill>
                <a:srgbClr val="59636E"/>
              </a:solidFill>
            </a:endParaRPr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7650" y="52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AASIST Overview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18" title="Screenshot 2026-01-19 at 10.48.2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8350"/>
            <a:ext cx="9143999" cy="25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Jung, Jee-weon, et al. "Aasist: Audio anti-spoofing using integrated spectro-temporal graph attention networks."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ICASSP 2022-2022 IEEE international conference on acoustics, speech and signal processing (ICASSP)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, 2022.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AASIST Sub-Modules Overview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727650" y="1928400"/>
            <a:ext cx="76887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RawNet2 Encoder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Lower Feature Maps (LFM) &amp; Higher Feature Maps (HFM).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Graph Modules &amp; Graph Combine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Heterogeneous Attention &amp; Stack node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Element wise Max/Min operator &amp; Readout</a:t>
            </a:r>
            <a:endParaRPr sz="2200"/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7650" y="52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AASIST-3 Overview</a:t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Borodin, Kirill, et al. "AASIST3: KAN-enhanced AASIST speech deepfake detection using SSL features and additional regularization for the ASVspoof 2024 Challenge."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Proc. ASVspoof, INTERSPEECH,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2024.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20" title="AASIST3.jpg"/>
          <p:cNvPicPr preferRelativeResize="0"/>
          <p:nvPr/>
        </p:nvPicPr>
        <p:blipFill rotWithShape="1">
          <a:blip r:embed="rId3">
            <a:alphaModFix/>
          </a:blip>
          <a:srcRect b="29823" l="0" r="0" t="27820"/>
          <a:stretch/>
        </p:blipFill>
        <p:spPr>
          <a:xfrm>
            <a:off x="0" y="1516199"/>
            <a:ext cx="9144000" cy="217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AASIST3 Sub-Modules Overview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727650" y="1928400"/>
            <a:ext cx="80355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RawNet2 Encoder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Lower Feature Maps (LFM) &amp; Higher Feature Maps (HFM).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Graph Modules (With KAN) &amp; Graph Combine (With KAN)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Heterogeneous Attention &amp; Stack node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Element wise Max/Min operator &amp; Readout (Via KAN Linear layer)</a:t>
            </a:r>
            <a:endParaRPr sz="2200"/>
          </a:p>
        </p:txBody>
      </p:sp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727650" y="52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RawFormer Overview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Liu, X., Liu, M., Wang, L., Lee, K. A., Zhang, H., &amp; Dang, J. (2023, June). Leveraging positional-related local-global dependency for synthetic speech detection.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ICASSP 2023-2023 IEEE International Conference on Acoustics, Speech and Signal Processing (ICASSP)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1-5).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2" title="Screenshot 2026-04-27 at 1.25.1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43" y="1060450"/>
            <a:ext cx="7931655" cy="35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RawFormer Sub-Modules Overview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727650" y="1928400"/>
            <a:ext cx="80355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Pre-Emphasis + Sinc Frontend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2D CNN Feature Extractor (LFM → HFM)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Positional Encoding + Flattening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Transformer Encoder Stack (MHSA + FFN)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Sequence Pooling + Classification</a:t>
            </a:r>
            <a:endParaRPr sz="2200">
              <a:solidFill>
                <a:srgbClr val="59636E"/>
              </a:solidFill>
            </a:endParaRPr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27650" y="52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FAN-AASIST Overview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Liu, X., Liu, M., Wang, L., Lee, K. A., Zhang, H., &amp; Dang, J. (2023, June). Leveraging positional-related local-global dependency for synthetic speech detection.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ICASSP 2023-2023 IEEE International Conference on Acoustics, Speech and Signal Processing (ICASSP)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1-5).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24" title="FAN_AASIST.jpg"/>
          <p:cNvPicPr preferRelativeResize="0"/>
          <p:nvPr/>
        </p:nvPicPr>
        <p:blipFill rotWithShape="1">
          <a:blip r:embed="rId3">
            <a:alphaModFix/>
          </a:blip>
          <a:srcRect b="24672" l="0" r="0" t="27440"/>
          <a:stretch/>
        </p:blipFill>
        <p:spPr>
          <a:xfrm>
            <a:off x="76200" y="1360712"/>
            <a:ext cx="8991600" cy="242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727650" y="52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FAN-AASIST Overview</a:t>
            </a:r>
            <a:endParaRPr/>
          </a:p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Yihong Dong, Ge Li, Yongding Tao, Xue Jiang, Kechi Zhang, Jia Li, Jinliang Deng, Jing Su, Jun Zhang, and Jingjing Xu, “Fourier analysis network,” in NeurIPS, 2025, San Diego, CA.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5" title="Screenshot 2026-04-27 at 8.29.4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25" y="1103874"/>
            <a:ext cx="7355001" cy="34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276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FAN-AASIST Sub-Modules Overview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727650" y="1329675"/>
            <a:ext cx="80355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All the submodules are same as AASIST, Just replaced attention with FAN to capture sequential characteristics. </a:t>
            </a:r>
            <a:endParaRPr sz="2200">
              <a:solidFill>
                <a:srgbClr val="59636E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6E"/>
              </a:buClr>
              <a:buSzPts val="2200"/>
              <a:buChar char="●"/>
            </a:pPr>
            <a:r>
              <a:rPr lang="en" sz="2200">
                <a:solidFill>
                  <a:srgbClr val="59636E"/>
                </a:solidFill>
              </a:rPr>
              <a:t>Unlike self-attention, which computesdense pairwise interactions, FAN decomposes each input into periodic and non-periodic components.</a:t>
            </a:r>
            <a:endParaRPr sz="2200">
              <a:solidFill>
                <a:srgbClr val="59636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rgbClr val="59636E"/>
              </a:solidFill>
            </a:endParaRPr>
          </a:p>
        </p:txBody>
      </p:sp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" name="Google Shape;187;p26" title="Screenshot 2026-04-27 at 8.51.2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00" y="3785500"/>
            <a:ext cx="847725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60900" y="1209275"/>
            <a:ext cx="8422200" cy="3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Dataset: ASVSpoof 2019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Training duration of audios: 2 Seconds with 16k sampling rate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# of filters in Sinc-conv layer: 70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# of ResNet2 blocks in encoder: 06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Optimizer and Learning Rate: Adam, and 10^-4.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Epochs: 5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Performance Metrices: Variable</a:t>
            </a:r>
            <a:endParaRPr sz="1700"/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" name="Google Shape;201;p28" title="Training Lo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3875"/>
            <a:ext cx="5715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9" title="Validation Lo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50" y="1403588"/>
            <a:ext cx="5715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0" title="Validation 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75" y="1389950"/>
            <a:ext cx="5930000" cy="36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sp>
        <p:nvSpPr>
          <p:cNvPr id="221" name="Google Shape;22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1" title="Screenshot 2026-04-27 at 1.37.0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2813"/>
            <a:ext cx="9143999" cy="959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1" title="Screenshot 2026-04-27 at 1.37.2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4437"/>
            <a:ext cx="43815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1" title="Screenshot 2026-04-27 at 1.37.48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86487"/>
            <a:ext cx="52387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2" title="Screenshot 2026-04-27 at 1.38.2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50" y="1675700"/>
            <a:ext cx="52292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2" title="Screenshot 2026-04-27 at 1.38.50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50" y="2879925"/>
            <a:ext cx="24384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273750" y="566275"/>
            <a:ext cx="860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 (FAN)</a:t>
            </a:r>
            <a:endParaRPr/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33" title="Screenshot 2026-04-27 at 8.52.0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3875"/>
            <a:ext cx="4219575" cy="306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 title="Screenshot 2026-04-27 at 8.52.22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6725" y="1253875"/>
            <a:ext cx="421957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/>
          <p:nvPr/>
        </p:nvSpPr>
        <p:spPr>
          <a:xfrm>
            <a:off x="816450" y="3905225"/>
            <a:ext cx="625800" cy="163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13675" y="4568950"/>
            <a:ext cx="852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Observations: Not working good.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729450" y="582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Conclusions</a:t>
            </a:r>
            <a:endParaRPr/>
          </a:p>
        </p:txBody>
      </p:sp>
      <p:sp>
        <p:nvSpPr>
          <p:cNvPr id="248" name="Google Shape;248;p34"/>
          <p:cNvSpPr txBox="1"/>
          <p:nvPr>
            <p:ph idx="1" type="body"/>
          </p:nvPr>
        </p:nvSpPr>
        <p:spPr>
          <a:xfrm>
            <a:off x="727650" y="1307925"/>
            <a:ext cx="76887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" sz="1700"/>
              <a:t>I explored 4 existing models, and tried </a:t>
            </a:r>
            <a:r>
              <a:rPr lang="en" sz="1700"/>
              <a:t>evolving</a:t>
            </a:r>
            <a:r>
              <a:rPr lang="en" sz="1700"/>
              <a:t> it in one another model.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I failed, but i learned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Models and data organization.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What is the key in evolution.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Why Graph attention.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Why sequential attention.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What Can be next ?? 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=&gt; Nested Learning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 </a:t>
            </a:r>
            <a:endParaRPr sz="1700"/>
          </a:p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727650" y="525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Refrences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727650" y="1142075"/>
            <a:ext cx="7688700" cy="3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b="1" lang="en"/>
              <a:t>ASV19 dataset =&gt; </a:t>
            </a:r>
            <a:r>
              <a:rPr lang="en"/>
              <a:t>M. Todisco, X. Wang, V. Vestman et al., “Asvspoof 2019: Future horizons in spoofed and fake audio detection,” in Proc. INTERSPEECH, 2019.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[2] </a:t>
            </a:r>
            <a:r>
              <a:rPr b="1" lang="en"/>
              <a:t>RawNet2</a:t>
            </a:r>
            <a:r>
              <a:rPr b="1" lang="en"/>
              <a:t> =&gt; </a:t>
            </a:r>
            <a:r>
              <a:rPr lang="en"/>
              <a:t>H. Tak, J. Patino, M. Todisco et al., “End-to-end anti-spoofing with rawnet2,” in Proc. ICASSP, 2021.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[3] </a:t>
            </a:r>
            <a:r>
              <a:rPr b="1" lang="en"/>
              <a:t>AASIST </a:t>
            </a:r>
            <a:r>
              <a:rPr b="1" lang="en"/>
              <a:t>=&gt; </a:t>
            </a:r>
            <a:r>
              <a:rPr lang="en">
                <a:solidFill>
                  <a:srgbClr val="59636E"/>
                </a:solidFill>
                <a:highlight>
                  <a:schemeClr val="lt1"/>
                </a:highlight>
              </a:rPr>
              <a:t>Jung, Jee-weon, et al. "Aasist: Audio anti-spoofing using integrated spectro-temporal graph attention networks." </a:t>
            </a:r>
            <a:r>
              <a:rPr i="1" lang="en">
                <a:solidFill>
                  <a:srgbClr val="59636E"/>
                </a:solidFill>
                <a:highlight>
                  <a:schemeClr val="lt1"/>
                </a:highlight>
              </a:rPr>
              <a:t>ICASSP 2022-2022 IEEE international conference on acoustics, speech and signal processing (ICASSP)</a:t>
            </a:r>
            <a:r>
              <a:rPr lang="en">
                <a:solidFill>
                  <a:srgbClr val="59636E"/>
                </a:solidFill>
                <a:highlight>
                  <a:schemeClr val="lt1"/>
                </a:highlight>
              </a:rPr>
              <a:t>, 2022.</a:t>
            </a:r>
            <a:endParaRPr>
              <a:solidFill>
                <a:srgbClr val="59636E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[4] </a:t>
            </a:r>
            <a:r>
              <a:rPr b="1" lang="en"/>
              <a:t>AASIST3 </a:t>
            </a:r>
            <a:r>
              <a:rPr b="1" lang="en"/>
              <a:t> =&gt; </a:t>
            </a:r>
            <a:r>
              <a:rPr lang="en">
                <a:solidFill>
                  <a:srgbClr val="59636E"/>
                </a:solidFill>
                <a:highlight>
                  <a:srgbClr val="FFFFFF"/>
                </a:highlight>
              </a:rPr>
              <a:t>Borodin, Kirill, et al. "AASIST3: KAN-enhanced AASIST speech deepfake detection using SSL features and additional regularization for the ASVspoof 2024 Challenge." </a:t>
            </a:r>
            <a:r>
              <a:rPr i="1" lang="en">
                <a:solidFill>
                  <a:srgbClr val="59636E"/>
                </a:solidFill>
                <a:highlight>
                  <a:srgbClr val="FFFFFF"/>
                </a:highlight>
              </a:rPr>
              <a:t>Proc. ASVspoof, INTERSPEECH, </a:t>
            </a:r>
            <a:r>
              <a:rPr lang="en">
                <a:solidFill>
                  <a:srgbClr val="59636E"/>
                </a:solidFill>
                <a:highlight>
                  <a:srgbClr val="FFFFFF"/>
                </a:highlight>
              </a:rPr>
              <a:t> 2024.</a:t>
            </a:r>
            <a:endParaRPr>
              <a:solidFill>
                <a:srgbClr val="59636E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[5] </a:t>
            </a:r>
            <a:r>
              <a:rPr b="1" lang="en"/>
              <a:t>Rawformer </a:t>
            </a:r>
            <a:r>
              <a:rPr b="1" lang="en"/>
              <a:t>=&gt; </a:t>
            </a:r>
            <a:r>
              <a:rPr lang="en">
                <a:solidFill>
                  <a:srgbClr val="59636E"/>
                </a:solidFill>
                <a:highlight>
                  <a:srgbClr val="FFFFFF"/>
                </a:highlight>
              </a:rPr>
              <a:t>Liu, X., Liu, M., Wang, L., Lee, K. A., Zhang, H., &amp; Dang, J. (2023, June). Leveraging positional-related local-global dependency for synthetic speech detection. In </a:t>
            </a:r>
            <a:r>
              <a:rPr i="1" lang="en">
                <a:solidFill>
                  <a:srgbClr val="59636E"/>
                </a:solidFill>
                <a:highlight>
                  <a:srgbClr val="FFFFFF"/>
                </a:highlight>
              </a:rPr>
              <a:t>ICASSP 2023-2023 IEEE International Conference on Acoustics, Speech and Signal Processing (ICASSP)</a:t>
            </a:r>
            <a:r>
              <a:rPr lang="en">
                <a:solidFill>
                  <a:srgbClr val="59636E"/>
                </a:solidFill>
                <a:highlight>
                  <a:srgbClr val="FFFFFF"/>
                </a:highlight>
              </a:rPr>
              <a:t> (pp. 1-5).</a:t>
            </a:r>
            <a:endParaRPr>
              <a:solidFill>
                <a:srgbClr val="59636E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[6] </a:t>
            </a:r>
            <a:r>
              <a:rPr b="1" lang="en"/>
              <a:t>FAN </a:t>
            </a:r>
            <a:r>
              <a:rPr b="1" lang="en"/>
              <a:t>=&gt; </a:t>
            </a:r>
            <a:r>
              <a:rPr lang="en">
                <a:solidFill>
                  <a:srgbClr val="59636E"/>
                </a:solidFill>
                <a:highlight>
                  <a:schemeClr val="lt1"/>
                </a:highlight>
              </a:rPr>
              <a:t>Yihong Dong, Ge Li, Yongding Tao, Xue Jiang, Kechi Zhang, Jia Li, Jinliang Deng, Jing Su, Jun Zhang, and Jingjing Xu, “Fourier analysis network,” in NeurIPS, 2025, San Diego, CA.</a:t>
            </a:r>
            <a:endParaRPr>
              <a:solidFill>
                <a:srgbClr val="59636E"/>
              </a:solidFill>
            </a:endParaRPr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2919075" y="1609350"/>
            <a:ext cx="3858300" cy="9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 … </a:t>
            </a:r>
            <a:endParaRPr sz="3600"/>
          </a:p>
        </p:txBody>
      </p:sp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